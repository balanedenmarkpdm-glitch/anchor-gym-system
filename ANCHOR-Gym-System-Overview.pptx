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635" cy="6858000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77240" y="685800"/>
            <a:ext cx="41148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600" b="1">
                <a:solidFill>
                  <a:srgbClr val="EE2A3A"/>
                </a:solidFill>
                <a:latin typeface="Aptos" charset="0"/>
                <a:cs typeface="Aptos" charset="0"/>
              </a:rPr>
              <a:t>ANCHOR</a:t>
            </a:r>
            <a:endParaRPr lang="en-US" sz="16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7240" y="1115060"/>
            <a:ext cx="530352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100" b="1">
                <a:solidFill>
                  <a:srgbClr val="9FAEB9"/>
                </a:solidFill>
                <a:latin typeface="Aptos" charset="0"/>
                <a:cs typeface="Aptos" charset="0"/>
              </a:rPr>
              <a:t>GYM SYSTEM</a:t>
            </a:r>
            <a:endParaRPr lang="en-US" sz="1100" b="1">
              <a:solidFill>
                <a:srgbClr val="9FAEB9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7240" y="1965960"/>
            <a:ext cx="658368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3200" b="1">
                <a:solidFill>
                  <a:srgbClr val="F2F6F8"/>
                </a:solidFill>
                <a:latin typeface="Aptos" charset="0"/>
                <a:cs typeface="Aptos" charset="0"/>
              </a:rPr>
              <a:t>Stronger operations.
Better member experience.</a:t>
            </a:r>
            <a:endParaRPr lang="en-US" sz="32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6130" y="3913505"/>
            <a:ext cx="694690" cy="6413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786130" y="4224020"/>
            <a:ext cx="54864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700">
                <a:solidFill>
                  <a:srgbClr val="AEBCC6"/>
                </a:solidFill>
                <a:latin typeface="Aptos" charset="0"/>
                <a:cs typeface="Aptos" charset="0"/>
              </a:rPr>
              <a:t>A simple digital hub for membership,
attendance, and gym operations.</a:t>
            </a:r>
            <a:endParaRPr lang="en-US" sz="17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18120" y="1297940"/>
            <a:ext cx="3429000" cy="4389120"/>
          </a:xfrm>
          <a:prstGeom prst="roundRect">
            <a:avLst/>
          </a:prstGeom>
          <a:solidFill>
            <a:srgbClr val="0D1319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467090" y="1846580"/>
            <a:ext cx="2103120" cy="2103120"/>
          </a:xfrm>
          <a:prstGeom prst="roundRect">
            <a:avLst/>
          </a:prstGeom>
          <a:solidFill>
            <a:srgbClr val="131D24"/>
          </a:solidFill>
          <a:ln w="12700">
            <a:solidFill>
              <a:srgbClr val="EE2A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467090" y="2103120"/>
            <a:ext cx="2103120" cy="1015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6600" b="1">
                <a:solidFill>
                  <a:srgbClr val="EE2A3A"/>
                </a:solidFill>
                <a:latin typeface="Aptos" charset="0"/>
                <a:cs typeface="Aptos" charset="0"/>
              </a:rPr>
              <a:t>A</a:t>
            </a:r>
            <a:endParaRPr lang="en-US" sz="66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092440" y="4434840"/>
            <a:ext cx="288036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1000" b="1">
                <a:solidFill>
                  <a:srgbClr val="AEBCC6"/>
                </a:solidFill>
                <a:latin typeface="Aptos" charset="0"/>
                <a:cs typeface="Aptos" charset="0"/>
              </a:rPr>
              <a:t>MEMBERS  â€¢  STAFF  â€¢  ACCESS</a:t>
            </a:r>
            <a:endParaRPr lang="en-US" sz="1000" b="1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777240" y="6263640"/>
            <a:ext cx="10652760" cy="635"/>
          </a:xfrm>
          <a:prstGeom prst="line">
            <a:avLst/>
          </a:prstGeom>
          <a:ln w="10160">
            <a:solidFill>
              <a:srgbClr val="25333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777240" y="6418580"/>
            <a:ext cx="41148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6F818D"/>
                </a:solidFill>
                <a:latin typeface="Aptos" charset="0"/>
                <a:cs typeface="Aptos" charset="0"/>
              </a:rPr>
              <a:t>SYSTEM PRESENTATION</a:t>
            </a:r>
            <a:endParaRPr lang="en-US" sz="900" b="1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72800" y="6418580"/>
            <a:ext cx="4572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01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3540"/>
            <a:ext cx="383540" cy="5524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2920" y="530225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 b="1">
                <a:solidFill>
                  <a:srgbClr val="B1BEC7"/>
                </a:solidFill>
                <a:latin typeface="Aptos" charset="0"/>
                <a:cs typeface="Aptos" charset="0"/>
              </a:rPr>
              <a:t>ANCHOR  /  GYM SYSTEM</a:t>
            </a:r>
            <a:endParaRPr lang="en-US" sz="1000" b="1">
              <a:solidFill>
                <a:srgbClr val="B1BEC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03920" y="530225"/>
            <a:ext cx="315468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6F818D"/>
                </a:solidFill>
                <a:latin typeface="Aptos" charset="0"/>
                <a:cs typeface="Aptos" charset="0"/>
              </a:rPr>
              <a:t>WHO IT SERVES</a:t>
            </a:r>
            <a:endParaRPr lang="en-US" sz="900" b="1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2920" y="6428105"/>
            <a:ext cx="11182985" cy="635"/>
          </a:xfrm>
          <a:prstGeom prst="line">
            <a:avLst/>
          </a:prstGeom>
          <a:ln w="10160">
            <a:solidFill>
              <a:srgbClr val="23313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502920" y="6510020"/>
            <a:ext cx="50292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800">
                <a:solidFill>
                  <a:srgbClr val="6F818D"/>
                </a:solidFill>
                <a:latin typeface="Aptos" charset="0"/>
                <a:cs typeface="Aptos" charset="0"/>
              </a:rPr>
              <a:t>SYSTEM OVERVIEW  â€¢  2026</a:t>
            </a:r>
            <a:endParaRPr lang="en-US" sz="800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018520" y="6492240"/>
            <a:ext cx="65786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02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2920" y="1023620"/>
            <a:ext cx="1051560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700" b="1">
                <a:solidFill>
                  <a:srgbClr val="F2F6F8"/>
                </a:solidFill>
                <a:latin typeface="Aptos" charset="0"/>
                <a:cs typeface="Aptos" charset="0"/>
              </a:rPr>
              <a:t>One system. Two everyday experiences.</a:t>
            </a:r>
            <a:endParaRPr lang="en-US" sz="2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02920" y="1627505"/>
            <a:ext cx="1033272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400">
                <a:solidFill>
                  <a:srgbClr val="AEBCC6"/>
                </a:solidFill>
                <a:latin typeface="Aptos" charset="0"/>
                <a:cs typeface="Aptos" charset="0"/>
              </a:rPr>
              <a:t>Clear self-service for members, with practical tools for staff.</a:t>
            </a:r>
            <a:endParaRPr lang="en-US" sz="14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5440680" cy="342900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3580" y="2523490"/>
            <a:ext cx="50800" cy="295338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895985" y="2523490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FOR MEMBERS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95985" y="2816225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Member portal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895985" y="3328035"/>
            <a:ext cx="4800600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â€¢ View membership status and history
â€¢ Apply or renew; submit payment proof
â€¢ Access a personal QR code
â€¢ Receive updates and manage profile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35700" y="2286000"/>
            <a:ext cx="5440680" cy="342900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36995" y="2523490"/>
            <a:ext cx="50165" cy="295338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629400" y="2523490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FOR STAFF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629400" y="2816225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Admin workspace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629400" y="3328035"/>
            <a:ext cx="4800600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â€¢ Review applications and payments
â€¢ Track attendance and gym occupancy
â€¢ Scan member QR codes
â€¢ Record guest visits and view reports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3540"/>
            <a:ext cx="383540" cy="5524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2920" y="530225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 b="1">
                <a:solidFill>
                  <a:srgbClr val="B1BEC7"/>
                </a:solidFill>
                <a:latin typeface="Aptos" charset="0"/>
                <a:cs typeface="Aptos" charset="0"/>
              </a:rPr>
              <a:t>ANCHOR  /  GYM SYSTEM</a:t>
            </a:r>
            <a:endParaRPr lang="en-US" sz="1000" b="1">
              <a:solidFill>
                <a:srgbClr val="B1BEC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03920" y="530225"/>
            <a:ext cx="315468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6F818D"/>
                </a:solidFill>
                <a:latin typeface="Aptos" charset="0"/>
                <a:cs typeface="Aptos" charset="0"/>
              </a:rPr>
              <a:t>MEMBER JOURNEY</a:t>
            </a:r>
            <a:endParaRPr lang="en-US" sz="900" b="1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2920" y="6428105"/>
            <a:ext cx="11182985" cy="635"/>
          </a:xfrm>
          <a:prstGeom prst="line">
            <a:avLst/>
          </a:prstGeom>
          <a:ln w="10160">
            <a:solidFill>
              <a:srgbClr val="23313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502920" y="6510020"/>
            <a:ext cx="50292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800">
                <a:solidFill>
                  <a:srgbClr val="6F818D"/>
                </a:solidFill>
                <a:latin typeface="Aptos" charset="0"/>
                <a:cs typeface="Aptos" charset="0"/>
              </a:rPr>
              <a:t>SYSTEM OVERVIEW  â€¢  2026</a:t>
            </a:r>
            <a:endParaRPr lang="en-US" sz="800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018520" y="6492240"/>
            <a:ext cx="65786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03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2920" y="1023620"/>
            <a:ext cx="1051560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700" b="1">
                <a:solidFill>
                  <a:srgbClr val="F2F6F8"/>
                </a:solidFill>
                <a:latin typeface="Aptos" charset="0"/>
                <a:cs typeface="Aptos" charset="0"/>
              </a:rPr>
              <a:t>From application to gym access.</a:t>
            </a:r>
            <a:endParaRPr lang="en-US" sz="2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02920" y="1627505"/>
            <a:ext cx="1033272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400">
                <a:solidFill>
                  <a:srgbClr val="AEBCC6"/>
                </a:solidFill>
                <a:latin typeface="Aptos" charset="0"/>
                <a:cs typeface="Aptos" charset="0"/>
              </a:rPr>
              <a:t>A straightforward path keeps membership activity visible.</a:t>
            </a:r>
            <a:endParaRPr lang="en-US" sz="14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2240280" cy="233172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795020" y="2651760"/>
            <a:ext cx="914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 b="1">
                <a:solidFill>
                  <a:srgbClr val="EE2A3A"/>
                </a:solidFill>
                <a:latin typeface="Aptos" charset="0"/>
                <a:cs typeface="Aptos" charset="0"/>
              </a:rPr>
              <a:t>01</a:t>
            </a:r>
            <a:endParaRPr lang="en-US" sz="13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95020" y="3246120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Apply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95020" y="3766820"/>
            <a:ext cx="18288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200">
                <a:solidFill>
                  <a:srgbClr val="AEBCC6"/>
                </a:solidFill>
                <a:latin typeface="Aptos" charset="0"/>
                <a:cs typeface="Aptos" charset="0"/>
              </a:rPr>
              <a:t>Member submits a membership or renewal request.</a:t>
            </a:r>
            <a:endParaRPr lang="en-US" sz="12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40" y="2423160"/>
            <a:ext cx="2240280" cy="233172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721100" y="2651760"/>
            <a:ext cx="914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 b="1">
                <a:solidFill>
                  <a:srgbClr val="5EAEFF"/>
                </a:solidFill>
                <a:latin typeface="Aptos" charset="0"/>
                <a:cs typeface="Aptos" charset="0"/>
              </a:rPr>
              <a:t>02</a:t>
            </a:r>
            <a:endParaRPr lang="en-US" sz="1300" b="1">
              <a:solidFill>
                <a:srgbClr val="5EAEFF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721100" y="3246120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Verify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721100" y="3766820"/>
            <a:ext cx="18288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200">
                <a:solidFill>
                  <a:srgbClr val="AEBCC6"/>
                </a:solidFill>
                <a:latin typeface="Aptos" charset="0"/>
                <a:cs typeface="Aptos" charset="0"/>
              </a:rPr>
              <a:t>Staff reviews the application and payment proof.</a:t>
            </a:r>
            <a:endParaRPr lang="en-US" sz="12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46520" y="2423160"/>
            <a:ext cx="2240280" cy="233172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647180" y="2651760"/>
            <a:ext cx="914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 b="1">
                <a:solidFill>
                  <a:srgbClr val="26D58B"/>
                </a:solidFill>
                <a:latin typeface="Aptos" charset="0"/>
                <a:cs typeface="Aptos" charset="0"/>
              </a:rPr>
              <a:t>03</a:t>
            </a:r>
            <a:endParaRPr lang="en-US" sz="1300" b="1">
              <a:solidFill>
                <a:srgbClr val="26D58B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647180" y="3246120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Activate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647180" y="3766820"/>
            <a:ext cx="1828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200">
                <a:solidFill>
                  <a:srgbClr val="AEBCC6"/>
                </a:solidFill>
                <a:latin typeface="Aptos" charset="0"/>
                <a:cs typeface="Aptos" charset="0"/>
              </a:rPr>
              <a:t>Approved membership details appear in the portal.</a:t>
            </a:r>
            <a:endParaRPr lang="en-US" sz="12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72600" y="2423160"/>
            <a:ext cx="2240280" cy="233172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9573260" y="2651760"/>
            <a:ext cx="914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 b="1">
                <a:solidFill>
                  <a:srgbClr val="EE2A3A"/>
                </a:solidFill>
                <a:latin typeface="Aptos" charset="0"/>
                <a:cs typeface="Aptos" charset="0"/>
              </a:rPr>
              <a:t>04</a:t>
            </a:r>
            <a:endParaRPr lang="en-US" sz="13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573260" y="3246120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Check in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9573260" y="3766820"/>
            <a:ext cx="1828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200">
                <a:solidFill>
                  <a:srgbClr val="AEBCC6"/>
                </a:solidFill>
                <a:latin typeface="Aptos" charset="0"/>
                <a:cs typeface="Aptos" charset="0"/>
              </a:rPr>
              <a:t>Member presents a QR code at the gym.</a:t>
            </a:r>
            <a:endParaRPr lang="en-US" sz="12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86130" y="4983480"/>
            <a:ext cx="18288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APPLICATION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1645920" y="5092700"/>
            <a:ext cx="8549640" cy="635"/>
          </a:xfrm>
          <a:prstGeom prst="line">
            <a:avLst/>
          </a:prstGeom>
          <a:ln w="15240">
            <a:solidFill>
              <a:srgbClr val="3A4A5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9125585" y="4983480"/>
            <a:ext cx="214884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26D58B"/>
                </a:solidFill>
                <a:latin typeface="Aptos" charset="0"/>
                <a:cs typeface="Aptos" charset="0"/>
              </a:rPr>
              <a:t>STAFF-VERIFIED ACCESS</a:t>
            </a:r>
            <a:endParaRPr lang="en-US" sz="900" b="1">
              <a:solidFill>
                <a:srgbClr val="26D58B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777240" y="5614035"/>
            <a:ext cx="73152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QR access is available after membership approval.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3540"/>
            <a:ext cx="383540" cy="5524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2920" y="530225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 b="1">
                <a:solidFill>
                  <a:srgbClr val="B1BEC7"/>
                </a:solidFill>
                <a:latin typeface="Aptos" charset="0"/>
                <a:cs typeface="Aptos" charset="0"/>
              </a:rPr>
              <a:t>ANCHOR  /  GYM SYSTEM</a:t>
            </a:r>
            <a:endParaRPr lang="en-US" sz="1000" b="1">
              <a:solidFill>
                <a:srgbClr val="B1BEC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03920" y="530225"/>
            <a:ext cx="315468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6F818D"/>
                </a:solidFill>
                <a:latin typeface="Aptos" charset="0"/>
                <a:cs typeface="Aptos" charset="0"/>
              </a:rPr>
              <a:t>DAILY OPERATIONS</a:t>
            </a:r>
            <a:endParaRPr lang="en-US" sz="900" b="1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2920" y="6428105"/>
            <a:ext cx="11182985" cy="635"/>
          </a:xfrm>
          <a:prstGeom prst="line">
            <a:avLst/>
          </a:prstGeom>
          <a:ln w="10160">
            <a:solidFill>
              <a:srgbClr val="23313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502920" y="6510020"/>
            <a:ext cx="50292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800">
                <a:solidFill>
                  <a:srgbClr val="6F818D"/>
                </a:solidFill>
                <a:latin typeface="Aptos" charset="0"/>
                <a:cs typeface="Aptos" charset="0"/>
              </a:rPr>
              <a:t>SYSTEM OVERVIEW  â€¢  2026</a:t>
            </a:r>
            <a:endParaRPr lang="en-US" sz="800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018520" y="6492240"/>
            <a:ext cx="65786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04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2920" y="1023620"/>
            <a:ext cx="1051560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700" b="1">
                <a:solidFill>
                  <a:srgbClr val="F2F6F8"/>
                </a:solidFill>
                <a:latin typeface="Aptos" charset="0"/>
                <a:cs typeface="Aptos" charset="0"/>
              </a:rPr>
              <a:t>A clearer view of the gym floor.</a:t>
            </a:r>
            <a:endParaRPr lang="en-US" sz="2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02920" y="1627505"/>
            <a:ext cx="1033272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400">
                <a:solidFill>
                  <a:srgbClr val="AEBCC6"/>
                </a:solidFill>
                <a:latin typeface="Aptos" charset="0"/>
                <a:cs typeface="Aptos" charset="0"/>
              </a:rPr>
              <a:t>Front-desk workflows stay connected to live records and reports.</a:t>
            </a:r>
            <a:endParaRPr lang="en-US" sz="14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5440680" cy="142621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3580" y="2523490"/>
            <a:ext cx="50800" cy="951230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895985" y="2523490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ACCESS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95985" y="2816225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QR attendance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895985" y="3328035"/>
            <a:ext cx="4800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Scan member QR codes to record check-in and check-out.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35700" y="2286000"/>
            <a:ext cx="5440680" cy="142621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36995" y="2523490"/>
            <a:ext cx="50165" cy="951230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629400" y="2523490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FRONT DESK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629400" y="2816225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Guest visits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629400" y="3328035"/>
            <a:ext cx="4800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Record walk-ins with visit type, payment, and timed stays.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004945"/>
            <a:ext cx="5440680" cy="142621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03580" y="4242435"/>
            <a:ext cx="50800" cy="951230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95985" y="4242435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LIVE VIEW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95985" y="4535170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Occupancy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95985" y="5046980"/>
            <a:ext cx="4800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See active member and guest counts from attendance.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35700" y="4004945"/>
            <a:ext cx="5440680" cy="142621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436995" y="4242435"/>
            <a:ext cx="50165" cy="951230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6629400" y="4242435"/>
            <a:ext cx="48463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5762"/>
                </a:solidFill>
                <a:latin typeface="Aptos" charset="0"/>
                <a:cs typeface="Aptos" charset="0"/>
              </a:rPr>
              <a:t>INSIGHTS</a:t>
            </a:r>
            <a:endParaRPr lang="en-US" sz="900" b="1">
              <a:solidFill>
                <a:srgbClr val="EE5762"/>
              </a:solidFill>
              <a:latin typeface="Aptos" charset="0"/>
              <a:cs typeface="Aptos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629400" y="4535170"/>
            <a:ext cx="481838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000" b="1">
                <a:solidFill>
                  <a:srgbClr val="F2F6F8"/>
                </a:solidFill>
                <a:latin typeface="Aptos" charset="0"/>
                <a:cs typeface="Aptos" charset="0"/>
              </a:rPr>
              <a:t>Reports &amp; demand</a:t>
            </a:r>
            <a:endParaRPr lang="en-US" sz="20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629400" y="5046980"/>
            <a:ext cx="4800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300">
                <a:solidFill>
                  <a:srgbClr val="AEBCC6"/>
                </a:solidFill>
                <a:latin typeface="Aptos" charset="0"/>
                <a:cs typeface="Aptos" charset="0"/>
              </a:rPr>
              <a:t>Review attendance trends and equipment demand.</a:t>
            </a:r>
            <a:endParaRPr lang="en-US" sz="13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3540"/>
            <a:ext cx="383540" cy="55245"/>
          </a:xfrm>
          <a:prstGeom prst="rect">
            <a:avLst/>
          </a:prstGeom>
          <a:solidFill>
            <a:srgbClr val="EE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2920" y="530225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 b="1">
                <a:solidFill>
                  <a:srgbClr val="B1BEC7"/>
                </a:solidFill>
                <a:latin typeface="Aptos" charset="0"/>
                <a:cs typeface="Aptos" charset="0"/>
              </a:rPr>
              <a:t>ANCHOR  /  GYM SYSTEM</a:t>
            </a:r>
            <a:endParaRPr lang="en-US" sz="1000" b="1">
              <a:solidFill>
                <a:srgbClr val="B1BEC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503920" y="530225"/>
            <a:ext cx="315468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6F818D"/>
                </a:solidFill>
                <a:latin typeface="Aptos" charset="0"/>
                <a:cs typeface="Aptos" charset="0"/>
              </a:rPr>
              <a:t>HOW IT WORKS</a:t>
            </a:r>
            <a:endParaRPr lang="en-US" sz="900" b="1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2920" y="6428105"/>
            <a:ext cx="11182985" cy="635"/>
          </a:xfrm>
          <a:prstGeom prst="line">
            <a:avLst/>
          </a:prstGeom>
          <a:ln w="10160">
            <a:solidFill>
              <a:srgbClr val="23313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502920" y="6510020"/>
            <a:ext cx="50292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800">
                <a:solidFill>
                  <a:srgbClr val="6F818D"/>
                </a:solidFill>
                <a:latin typeface="Aptos" charset="0"/>
                <a:cs typeface="Aptos" charset="0"/>
              </a:rPr>
              <a:t>SYSTEM OVERVIEW  â€¢  2026</a:t>
            </a:r>
            <a:endParaRPr lang="en-US" sz="800">
              <a:solidFill>
                <a:srgbClr val="6F818D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018520" y="6492240"/>
            <a:ext cx="65786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05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2920" y="1023620"/>
            <a:ext cx="1051560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2700" b="1">
                <a:solidFill>
                  <a:srgbClr val="F2F6F8"/>
                </a:solidFill>
                <a:latin typeface="Aptos" charset="0"/>
                <a:cs typeface="Aptos" charset="0"/>
              </a:rPr>
              <a:t>A web app with a connected backend.</a:t>
            </a:r>
            <a:endParaRPr lang="en-US" sz="2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02920" y="1627505"/>
            <a:ext cx="1033272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400">
                <a:solidFill>
                  <a:srgbClr val="AEBCC6"/>
                </a:solidFill>
                <a:latin typeface="Aptos" charset="0"/>
                <a:cs typeface="Aptos" charset="0"/>
              </a:rPr>
              <a:t>The browser experience and gym data services work together.</a:t>
            </a:r>
            <a:endParaRPr lang="en-US" sz="14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2486660" cy="157226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685800" y="2733675"/>
            <a:ext cx="21031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PEOPLE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85800" y="3126740"/>
            <a:ext cx="214884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700" b="1">
                <a:solidFill>
                  <a:srgbClr val="F2F6F8"/>
                </a:solidFill>
                <a:latin typeface="Aptos" charset="0"/>
                <a:cs typeface="Aptos" charset="0"/>
              </a:rPr>
              <a:t>Member &amp; staff</a:t>
            </a:r>
            <a:endParaRPr lang="en-US" sz="1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85800" y="3575050"/>
            <a:ext cx="2176145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>
                <a:solidFill>
                  <a:srgbClr val="AEBCC6"/>
                </a:solidFill>
                <a:latin typeface="Aptos" charset="0"/>
                <a:cs typeface="Aptos" charset="0"/>
              </a:rPr>
              <a:t>Phone or computer</a:t>
            </a:r>
            <a:endParaRPr lang="en-US" sz="10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1060" y="2514600"/>
            <a:ext cx="2487295" cy="157226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583940" y="2733675"/>
            <a:ext cx="21031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5EAEFF"/>
                </a:solidFill>
                <a:latin typeface="Aptos" charset="0"/>
                <a:cs typeface="Aptos" charset="0"/>
              </a:rPr>
              <a:t>WEB</a:t>
            </a:r>
            <a:endParaRPr lang="en-US" sz="900" b="1">
              <a:solidFill>
                <a:srgbClr val="5EAEFF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583940" y="3126740"/>
            <a:ext cx="214884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700" b="1">
                <a:solidFill>
                  <a:srgbClr val="F2F6F8"/>
                </a:solidFill>
                <a:latin typeface="Aptos" charset="0"/>
                <a:cs typeface="Aptos" charset="0"/>
              </a:rPr>
              <a:t>Frontend</a:t>
            </a:r>
            <a:endParaRPr lang="en-US" sz="1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583940" y="3575050"/>
            <a:ext cx="2176145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>
                <a:solidFill>
                  <a:srgbClr val="AEBCC6"/>
                </a:solidFill>
                <a:latin typeface="Aptos" charset="0"/>
                <a:cs typeface="Aptos" charset="0"/>
              </a:rPr>
              <a:t>Vercel</a:t>
            </a:r>
            <a:endParaRPr lang="en-US" sz="10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99835" y="2514600"/>
            <a:ext cx="2487295" cy="157226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482715" y="2733675"/>
            <a:ext cx="21031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26D58B"/>
                </a:solidFill>
                <a:latin typeface="Aptos" charset="0"/>
                <a:cs typeface="Aptos" charset="0"/>
              </a:rPr>
              <a:t>API</a:t>
            </a:r>
            <a:endParaRPr lang="en-US" sz="900" b="1">
              <a:solidFill>
                <a:srgbClr val="26D58B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482715" y="3126740"/>
            <a:ext cx="214884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700" b="1">
                <a:solidFill>
                  <a:srgbClr val="F2F6F8"/>
                </a:solidFill>
                <a:latin typeface="Aptos" charset="0"/>
                <a:cs typeface="Aptos" charset="0"/>
              </a:rPr>
              <a:t>Application server</a:t>
            </a:r>
            <a:endParaRPr lang="en-US" sz="1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482715" y="3575050"/>
            <a:ext cx="2176145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>
                <a:solidFill>
                  <a:srgbClr val="AEBCC6"/>
                </a:solidFill>
                <a:latin typeface="Aptos" charset="0"/>
                <a:cs typeface="Aptos" charset="0"/>
              </a:rPr>
              <a:t>Node.js / Express Â· Render</a:t>
            </a:r>
            <a:endParaRPr lang="en-US" sz="10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98610" y="2514600"/>
            <a:ext cx="2487295" cy="1572260"/>
          </a:xfrm>
          <a:prstGeom prst="roundRect">
            <a:avLst/>
          </a:prstGeom>
          <a:solidFill>
            <a:srgbClr val="0F161C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9381490" y="2733675"/>
            <a:ext cx="210312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900" b="1">
                <a:solidFill>
                  <a:srgbClr val="EE2A3A"/>
                </a:solidFill>
                <a:latin typeface="Aptos" charset="0"/>
                <a:cs typeface="Aptos" charset="0"/>
              </a:rPr>
              <a:t>DATA</a:t>
            </a:r>
            <a:endParaRPr lang="en-US" sz="9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381490" y="3126740"/>
            <a:ext cx="214884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700" b="1">
                <a:solidFill>
                  <a:srgbClr val="F2F6F8"/>
                </a:solidFill>
                <a:latin typeface="Aptos" charset="0"/>
                <a:cs typeface="Aptos" charset="0"/>
              </a:rPr>
              <a:t>Database</a:t>
            </a:r>
            <a:endParaRPr lang="en-US" sz="17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9381490" y="3575050"/>
            <a:ext cx="2176145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sz="1000">
                <a:solidFill>
                  <a:srgbClr val="AEBCC6"/>
                </a:solidFill>
                <a:latin typeface="Aptos" charset="0"/>
                <a:cs typeface="Aptos" charset="0"/>
              </a:rPr>
              <a:t>PostgreSQL</a:t>
            </a:r>
            <a:endParaRPr lang="en-US" sz="1000">
              <a:solidFill>
                <a:srgbClr val="AEBCC6"/>
              </a:solidFill>
              <a:latin typeface="Aptos" charset="0"/>
              <a:cs typeface="Aptos" charset="0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3007995" y="3300730"/>
            <a:ext cx="328930" cy="635"/>
          </a:xfrm>
          <a:prstGeom prst="line">
            <a:avLst/>
          </a:prstGeom>
          <a:ln w="25400">
            <a:solidFill>
              <a:srgbClr val="5B6C7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906770" y="3300730"/>
            <a:ext cx="328930" cy="635"/>
          </a:xfrm>
          <a:prstGeom prst="line">
            <a:avLst/>
          </a:prstGeom>
          <a:ln w="25400">
            <a:solidFill>
              <a:srgbClr val="5B6C7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805545" y="3300730"/>
            <a:ext cx="328930" cy="635"/>
          </a:xfrm>
          <a:prstGeom prst="line">
            <a:avLst/>
          </a:prstGeom>
          <a:ln w="25400">
            <a:solidFill>
              <a:srgbClr val="5B6C7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4617720"/>
            <a:ext cx="11173460" cy="960120"/>
          </a:xfrm>
          <a:prstGeom prst="roundRect">
            <a:avLst/>
          </a:prstGeom>
          <a:solidFill>
            <a:srgbClr val="131D24"/>
          </a:solidFill>
          <a:ln w="12700">
            <a:solidFill>
              <a:srgbClr val="2533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795020" y="4928235"/>
            <a:ext cx="1056132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1500" b="1">
                <a:solidFill>
                  <a:srgbClr val="F2F6F8"/>
                </a:solidFill>
                <a:latin typeface="Aptos" charset="0"/>
                <a:cs typeface="Aptos" charset="0"/>
              </a:rPr>
              <a:t>ONE PLACE TO MANAGE MEMBERSHIP, ATTENDANCE, AND DAILY GYM OPERATIONS.</a:t>
            </a:r>
            <a:endParaRPr lang="en-US" sz="1500" b="1">
              <a:solidFill>
                <a:srgbClr val="F2F6F8"/>
              </a:solidFill>
              <a:latin typeface="Aptos" charset="0"/>
              <a:cs typeface="Aptos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4114800" y="5796915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1200" b="1">
                <a:solidFill>
                  <a:srgbClr val="EE2A3A"/>
                </a:solidFill>
                <a:latin typeface="Aptos" charset="0"/>
                <a:cs typeface="Aptos" charset="0"/>
              </a:rPr>
              <a:t>ANCHOR GYM SYSTEM</a:t>
            </a:r>
            <a:endParaRPr lang="en-US" sz="1200" b="1">
              <a:solidFill>
                <a:srgbClr val="EE2A3A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1949</Words>
  <Application>WPS Presentation</Application>
  <PresentationFormat>Widescreen</PresentationFormat>
  <Paragraphs>158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Arial Unicode MS</vt:lpstr>
      <vt:lpstr>Microsoft YaHei</vt:lpstr>
      <vt:lpstr>Aptos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User</dc:creator>
  <cp:lastModifiedBy>Denmark Balane</cp:lastModifiedBy>
  <cp:revision>1</cp:revision>
  <dcterms:created xsi:type="dcterms:W3CDTF">2026-10-09T00:51:33Z</dcterms:created>
  <dcterms:modified xsi:type="dcterms:W3CDTF">2026-10-09T00:51:33Z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64E8D86FF012422EB0490BCD7349C928_11</vt:lpwstr>
  </property>
</Properties>
</file>