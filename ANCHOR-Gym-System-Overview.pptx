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</p:sldIdLst>
  <p:sldSz cx="1219136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7635" cy="6858000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777240" y="685800"/>
            <a:ext cx="4114800" cy="245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600" b="1">
                <a:solidFill>
                  <a:srgbClr val="EE2A3A"/>
                </a:solidFill>
                <a:latin typeface="Aptos" charset="0"/>
                <a:cs typeface="Aptos" charset="0"/>
              </a:rPr>
              <a:t>ANCHOR</a:t>
            </a:r>
            <a:endParaRPr lang="en-US" sz="16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77240" y="1115060"/>
            <a:ext cx="5303520" cy="16891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100" b="1">
                <a:solidFill>
                  <a:srgbClr val="9FAEB9"/>
                </a:solidFill>
                <a:latin typeface="Aptos" charset="0"/>
                <a:cs typeface="Aptos" charset="0"/>
              </a:rPr>
              <a:t>GYM SYSTEM</a:t>
            </a:r>
            <a:endParaRPr lang="en-US" sz="1100" b="1">
              <a:solidFill>
                <a:srgbClr val="9FAEB9"/>
              </a:solidFill>
              <a:latin typeface="Aptos" charset="0"/>
              <a:cs typeface="Aptos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777240" y="1965960"/>
            <a:ext cx="6583680" cy="9848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3200" b="1">
                <a:solidFill>
                  <a:srgbClr val="F2F6F8"/>
                </a:solidFill>
                <a:latin typeface="Aptos" charset="0"/>
                <a:cs typeface="Aptos" charset="0"/>
              </a:rPr>
              <a:t>Stronger operations.
Better member experience.</a:t>
            </a:r>
            <a:endParaRPr lang="en-US" sz="32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86130" y="3913505"/>
            <a:ext cx="694690" cy="64135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786130" y="4224020"/>
            <a:ext cx="5486400" cy="52260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700">
                <a:solidFill>
                  <a:srgbClr val="AEBCC6"/>
                </a:solidFill>
                <a:latin typeface="Aptos" charset="0"/>
                <a:cs typeface="Aptos" charset="0"/>
              </a:rPr>
              <a:t>A simple digital hub for membership,
attendance, and gym operations.</a:t>
            </a:r>
            <a:endParaRPr lang="en-US" sz="17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18120" y="1297940"/>
            <a:ext cx="3429000" cy="4389120"/>
          </a:xfrm>
          <a:prstGeom prst="roundRect">
            <a:avLst/>
          </a:prstGeom>
          <a:solidFill>
            <a:srgbClr val="0D1319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8467090" y="1846580"/>
            <a:ext cx="2103120" cy="2103120"/>
          </a:xfrm>
          <a:prstGeom prst="roundRect">
            <a:avLst/>
          </a:prstGeom>
          <a:solidFill>
            <a:srgbClr val="131D24"/>
          </a:solidFill>
          <a:ln w="12700">
            <a:solidFill>
              <a:srgbClr val="EE2A3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8467090" y="2103120"/>
            <a:ext cx="2103120" cy="10153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sz="6600" b="1">
                <a:solidFill>
                  <a:srgbClr val="EE2A3A"/>
                </a:solidFill>
                <a:latin typeface="Aptos" charset="0"/>
                <a:cs typeface="Aptos" charset="0"/>
              </a:rPr>
              <a:t>A</a:t>
            </a:r>
            <a:endParaRPr lang="en-US" sz="66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8092440" y="4434840"/>
            <a:ext cx="288036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ctr"/>
            <a:r>
              <a:rPr lang="en-US" sz="1000" b="1">
                <a:solidFill>
                  <a:srgbClr val="AEBCC6"/>
                </a:solidFill>
                <a:latin typeface="Aptos" charset="0"/>
                <a:cs typeface="Aptos" charset="0"/>
              </a:rPr>
              <a:t>MEMBERS  â€¢  STAFF  â€¢  ACCESS</a:t>
            </a:r>
            <a:endParaRPr lang="en-US" sz="1000" b="1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777240" y="6263640"/>
            <a:ext cx="10652760" cy="635"/>
          </a:xfrm>
          <a:prstGeom prst="line">
            <a:avLst/>
          </a:prstGeom>
          <a:ln w="10160">
            <a:solidFill>
              <a:srgbClr val="25333C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777240" y="6418580"/>
            <a:ext cx="411480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6F818D"/>
                </a:solidFill>
                <a:latin typeface="Aptos" charset="0"/>
                <a:cs typeface="Aptos" charset="0"/>
              </a:rPr>
              <a:t>SYSTEM PRESENTATION</a:t>
            </a:r>
            <a:endParaRPr lang="en-US" sz="900" b="1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0972800" y="6418580"/>
            <a:ext cx="45720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EE2A3A"/>
                </a:solidFill>
                <a:latin typeface="Aptos" charset="0"/>
                <a:cs typeface="Aptos" charset="0"/>
              </a:rPr>
              <a:t>01</a:t>
            </a:r>
            <a:endParaRPr lang="en-US" sz="9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3540"/>
            <a:ext cx="383540" cy="55245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502920" y="530225"/>
            <a:ext cx="36576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000" b="1">
                <a:solidFill>
                  <a:srgbClr val="B1BEC7"/>
                </a:solidFill>
                <a:latin typeface="Aptos" charset="0"/>
                <a:cs typeface="Aptos" charset="0"/>
              </a:rPr>
              <a:t>ANCHOR  /  GYM SYSTEM</a:t>
            </a:r>
            <a:endParaRPr lang="en-US" sz="1000" b="1">
              <a:solidFill>
                <a:srgbClr val="B1BEC7"/>
              </a:solidFill>
              <a:latin typeface="Aptos" charset="0"/>
              <a:cs typeface="Aptos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503920" y="530225"/>
            <a:ext cx="315468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6F818D"/>
                </a:solidFill>
                <a:latin typeface="Aptos" charset="0"/>
                <a:cs typeface="Aptos" charset="0"/>
              </a:rPr>
              <a:t>WHO IT SERVES</a:t>
            </a:r>
            <a:endParaRPr lang="en-US" sz="900" b="1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502920" y="6428105"/>
            <a:ext cx="11182985" cy="635"/>
          </a:xfrm>
          <a:prstGeom prst="line">
            <a:avLst/>
          </a:prstGeom>
          <a:ln w="10160">
            <a:solidFill>
              <a:srgbClr val="23313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502920" y="6510020"/>
            <a:ext cx="5029200" cy="122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800">
                <a:solidFill>
                  <a:srgbClr val="6F818D"/>
                </a:solidFill>
                <a:latin typeface="Aptos" charset="0"/>
                <a:cs typeface="Aptos" charset="0"/>
              </a:rPr>
              <a:t>SYSTEM OVERVIEW  â€¢  2026</a:t>
            </a:r>
            <a:endParaRPr lang="en-US" sz="800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1018520" y="6492240"/>
            <a:ext cx="65786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EE2A3A"/>
                </a:solidFill>
                <a:latin typeface="Aptos" charset="0"/>
                <a:cs typeface="Aptos" charset="0"/>
              </a:rPr>
              <a:t>02</a:t>
            </a:r>
            <a:endParaRPr lang="en-US" sz="9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02920" y="1023620"/>
            <a:ext cx="10515600" cy="415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700" b="1">
                <a:solidFill>
                  <a:srgbClr val="F2F6F8"/>
                </a:solidFill>
                <a:latin typeface="Aptos" charset="0"/>
                <a:cs typeface="Aptos" charset="0"/>
              </a:rPr>
              <a:t>One system. Two everyday experiences.</a:t>
            </a:r>
            <a:endParaRPr lang="en-US" sz="27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502920" y="1627505"/>
            <a:ext cx="1033272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400">
                <a:solidFill>
                  <a:srgbClr val="AEBCC6"/>
                </a:solidFill>
                <a:latin typeface="Aptos" charset="0"/>
                <a:cs typeface="Aptos" charset="0"/>
              </a:rPr>
              <a:t>Clear self-service for members, with practical tools for staff.</a:t>
            </a:r>
            <a:endParaRPr lang="en-US" sz="14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5440680" cy="342900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03580" y="2523490"/>
            <a:ext cx="50800" cy="2953385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2" name="Text Box 11"/>
          <p:cNvSpPr txBox="1"/>
          <p:nvPr/>
        </p:nvSpPr>
        <p:spPr>
          <a:xfrm>
            <a:off x="895985" y="2523490"/>
            <a:ext cx="484632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5762"/>
                </a:solidFill>
                <a:latin typeface="Aptos" charset="0"/>
                <a:cs typeface="Aptos" charset="0"/>
              </a:rPr>
              <a:t>FOR MEMBERS</a:t>
            </a:r>
            <a:endParaRPr lang="en-US" sz="900" b="1">
              <a:solidFill>
                <a:srgbClr val="EE5762"/>
              </a:solidFill>
              <a:latin typeface="Aptos" charset="0"/>
              <a:cs typeface="Aptos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895985" y="2816225"/>
            <a:ext cx="481838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Member portal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895985" y="3328035"/>
            <a:ext cx="4800600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â€¢ View membership status and history
â€¢ Apply or renew; submit payment proof
â€¢ Access a personal QR code
â€¢ Receive updates and manage profile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35700" y="2286000"/>
            <a:ext cx="5440680" cy="342900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436995" y="2523490"/>
            <a:ext cx="50165" cy="2953385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7" name="Text Box 16"/>
          <p:cNvSpPr txBox="1"/>
          <p:nvPr/>
        </p:nvSpPr>
        <p:spPr>
          <a:xfrm>
            <a:off x="6629400" y="2523490"/>
            <a:ext cx="484632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5762"/>
                </a:solidFill>
                <a:latin typeface="Aptos" charset="0"/>
                <a:cs typeface="Aptos" charset="0"/>
              </a:rPr>
              <a:t>FOR STAFF</a:t>
            </a:r>
            <a:endParaRPr lang="en-US" sz="900" b="1">
              <a:solidFill>
                <a:srgbClr val="EE5762"/>
              </a:solidFill>
              <a:latin typeface="Aptos" charset="0"/>
              <a:cs typeface="Aptos" charset="0"/>
            </a:endParaRPr>
          </a:p>
        </p:txBody>
      </p:sp>
      <p:sp>
        <p:nvSpPr>
          <p:cNvPr id="18" name="Text Box 17"/>
          <p:cNvSpPr txBox="1"/>
          <p:nvPr/>
        </p:nvSpPr>
        <p:spPr>
          <a:xfrm>
            <a:off x="6629400" y="2816225"/>
            <a:ext cx="481838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Admin workspace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6629400" y="3328035"/>
            <a:ext cx="4800600" cy="8001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â€¢ Review applications and payments
â€¢ Track attendance and gym occupancy
â€¢ Scan member QR codes
â€¢ Record guest visits and view reports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3540"/>
            <a:ext cx="383540" cy="55245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502920" y="530225"/>
            <a:ext cx="36576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000" b="1">
                <a:solidFill>
                  <a:srgbClr val="B1BEC7"/>
                </a:solidFill>
                <a:latin typeface="Aptos" charset="0"/>
                <a:cs typeface="Aptos" charset="0"/>
              </a:rPr>
              <a:t>ANCHOR  /  GYM SYSTEM</a:t>
            </a:r>
            <a:endParaRPr lang="en-US" sz="1000" b="1">
              <a:solidFill>
                <a:srgbClr val="B1BEC7"/>
              </a:solidFill>
              <a:latin typeface="Aptos" charset="0"/>
              <a:cs typeface="Aptos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503920" y="530225"/>
            <a:ext cx="315468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6F818D"/>
                </a:solidFill>
                <a:latin typeface="Aptos" charset="0"/>
                <a:cs typeface="Aptos" charset="0"/>
              </a:rPr>
              <a:t>MEMBER JOURNEY</a:t>
            </a:r>
            <a:endParaRPr lang="en-US" sz="900" b="1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502920" y="6428105"/>
            <a:ext cx="11182985" cy="635"/>
          </a:xfrm>
          <a:prstGeom prst="line">
            <a:avLst/>
          </a:prstGeom>
          <a:ln w="10160">
            <a:solidFill>
              <a:srgbClr val="23313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502920" y="6510020"/>
            <a:ext cx="5029200" cy="122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800">
                <a:solidFill>
                  <a:srgbClr val="6F818D"/>
                </a:solidFill>
                <a:latin typeface="Aptos" charset="0"/>
                <a:cs typeface="Aptos" charset="0"/>
              </a:rPr>
              <a:t>SYSTEM OVERVIEW  â€¢  2026</a:t>
            </a:r>
            <a:endParaRPr lang="en-US" sz="800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1018520" y="6492240"/>
            <a:ext cx="65786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EE2A3A"/>
                </a:solidFill>
                <a:latin typeface="Aptos" charset="0"/>
                <a:cs typeface="Aptos" charset="0"/>
              </a:rPr>
              <a:t>03</a:t>
            </a:r>
            <a:endParaRPr lang="en-US" sz="9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02920" y="1023620"/>
            <a:ext cx="10515600" cy="415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700" b="1">
                <a:solidFill>
                  <a:srgbClr val="F2F6F8"/>
                </a:solidFill>
                <a:latin typeface="Aptos" charset="0"/>
                <a:cs typeface="Aptos" charset="0"/>
              </a:rPr>
              <a:t>From application to gym access.</a:t>
            </a:r>
            <a:endParaRPr lang="en-US" sz="27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502920" y="1627505"/>
            <a:ext cx="1033272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400">
                <a:solidFill>
                  <a:srgbClr val="AEBCC6"/>
                </a:solidFill>
                <a:latin typeface="Aptos" charset="0"/>
                <a:cs typeface="Aptos" charset="0"/>
              </a:rPr>
              <a:t>A straightforward path keeps membership activity visible.</a:t>
            </a:r>
            <a:endParaRPr lang="en-US" sz="14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2240280" cy="233172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" name="Text Box 10"/>
          <p:cNvSpPr txBox="1"/>
          <p:nvPr/>
        </p:nvSpPr>
        <p:spPr>
          <a:xfrm>
            <a:off x="795020" y="2651760"/>
            <a:ext cx="9144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 b="1">
                <a:solidFill>
                  <a:srgbClr val="EE2A3A"/>
                </a:solidFill>
                <a:latin typeface="Aptos" charset="0"/>
                <a:cs typeface="Aptos" charset="0"/>
              </a:rPr>
              <a:t>01</a:t>
            </a:r>
            <a:endParaRPr lang="en-US" sz="13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795020" y="3246120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Apply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795020" y="3766820"/>
            <a:ext cx="18288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200">
                <a:solidFill>
                  <a:srgbClr val="AEBCC6"/>
                </a:solidFill>
                <a:latin typeface="Aptos" charset="0"/>
                <a:cs typeface="Aptos" charset="0"/>
              </a:rPr>
              <a:t>Member submits a membership or renewal request.</a:t>
            </a:r>
            <a:endParaRPr lang="en-US" sz="12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20440" y="2423160"/>
            <a:ext cx="2240280" cy="233172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5" name="Text Box 14"/>
          <p:cNvSpPr txBox="1"/>
          <p:nvPr/>
        </p:nvSpPr>
        <p:spPr>
          <a:xfrm>
            <a:off x="3721100" y="2651760"/>
            <a:ext cx="9144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 b="1">
                <a:solidFill>
                  <a:srgbClr val="5EAEFF"/>
                </a:solidFill>
                <a:latin typeface="Aptos" charset="0"/>
                <a:cs typeface="Aptos" charset="0"/>
              </a:rPr>
              <a:t>02</a:t>
            </a:r>
            <a:endParaRPr lang="en-US" sz="1300" b="1">
              <a:solidFill>
                <a:srgbClr val="5EAEFF"/>
              </a:solidFill>
              <a:latin typeface="Aptos" charset="0"/>
              <a:cs typeface="Aptos" charset="0"/>
            </a:endParaRPr>
          </a:p>
        </p:txBody>
      </p:sp>
      <p:sp>
        <p:nvSpPr>
          <p:cNvPr id="16" name="Text Box 15"/>
          <p:cNvSpPr txBox="1"/>
          <p:nvPr/>
        </p:nvSpPr>
        <p:spPr>
          <a:xfrm>
            <a:off x="3721100" y="3246120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Verify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17" name="Text Box 16"/>
          <p:cNvSpPr txBox="1"/>
          <p:nvPr/>
        </p:nvSpPr>
        <p:spPr>
          <a:xfrm>
            <a:off x="3721100" y="3766820"/>
            <a:ext cx="18288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200">
                <a:solidFill>
                  <a:srgbClr val="AEBCC6"/>
                </a:solidFill>
                <a:latin typeface="Aptos" charset="0"/>
                <a:cs typeface="Aptos" charset="0"/>
              </a:rPr>
              <a:t>Staff reviews the application and payment proof.</a:t>
            </a:r>
            <a:endParaRPr lang="en-US" sz="12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46520" y="2423160"/>
            <a:ext cx="2240280" cy="233172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9" name="Text Box 18"/>
          <p:cNvSpPr txBox="1"/>
          <p:nvPr/>
        </p:nvSpPr>
        <p:spPr>
          <a:xfrm>
            <a:off x="6647180" y="2651760"/>
            <a:ext cx="9144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 b="1">
                <a:solidFill>
                  <a:srgbClr val="26D58B"/>
                </a:solidFill>
                <a:latin typeface="Aptos" charset="0"/>
                <a:cs typeface="Aptos" charset="0"/>
              </a:rPr>
              <a:t>03</a:t>
            </a:r>
            <a:endParaRPr lang="en-US" sz="1300" b="1">
              <a:solidFill>
                <a:srgbClr val="26D58B"/>
              </a:solidFill>
              <a:latin typeface="Aptos" charset="0"/>
              <a:cs typeface="Aptos" charset="0"/>
            </a:endParaRPr>
          </a:p>
        </p:txBody>
      </p:sp>
      <p:sp>
        <p:nvSpPr>
          <p:cNvPr id="20" name="Text Box 19"/>
          <p:cNvSpPr txBox="1"/>
          <p:nvPr/>
        </p:nvSpPr>
        <p:spPr>
          <a:xfrm>
            <a:off x="6647180" y="3246120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Activate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6647180" y="3766820"/>
            <a:ext cx="18288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200">
                <a:solidFill>
                  <a:srgbClr val="AEBCC6"/>
                </a:solidFill>
                <a:latin typeface="Aptos" charset="0"/>
                <a:cs typeface="Aptos" charset="0"/>
              </a:rPr>
              <a:t>Approved membership details appear in the portal.</a:t>
            </a:r>
            <a:endParaRPr lang="en-US" sz="12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372600" y="2423160"/>
            <a:ext cx="2240280" cy="233172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3" name="Text Box 22"/>
          <p:cNvSpPr txBox="1"/>
          <p:nvPr/>
        </p:nvSpPr>
        <p:spPr>
          <a:xfrm>
            <a:off x="9573260" y="2651760"/>
            <a:ext cx="9144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 b="1">
                <a:solidFill>
                  <a:srgbClr val="EE2A3A"/>
                </a:solidFill>
                <a:latin typeface="Aptos" charset="0"/>
                <a:cs typeface="Aptos" charset="0"/>
              </a:rPr>
              <a:t>04</a:t>
            </a:r>
            <a:endParaRPr lang="en-US" sz="13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9573260" y="3246120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Check in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9573260" y="3766820"/>
            <a:ext cx="18288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200">
                <a:solidFill>
                  <a:srgbClr val="AEBCC6"/>
                </a:solidFill>
                <a:latin typeface="Aptos" charset="0"/>
                <a:cs typeface="Aptos" charset="0"/>
              </a:rPr>
              <a:t>Member presents a QR code at the gym.</a:t>
            </a:r>
            <a:endParaRPr lang="en-US" sz="12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786130" y="4983480"/>
            <a:ext cx="182880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2A3A"/>
                </a:solidFill>
                <a:latin typeface="Aptos" charset="0"/>
                <a:cs typeface="Aptos" charset="0"/>
              </a:rPr>
              <a:t>APPLICATION</a:t>
            </a:r>
            <a:endParaRPr lang="en-US" sz="9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1645920" y="5092700"/>
            <a:ext cx="8549640" cy="635"/>
          </a:xfrm>
          <a:prstGeom prst="line">
            <a:avLst/>
          </a:prstGeom>
          <a:ln w="15240">
            <a:solidFill>
              <a:srgbClr val="3A4A54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Text Box 27"/>
          <p:cNvSpPr txBox="1"/>
          <p:nvPr/>
        </p:nvSpPr>
        <p:spPr>
          <a:xfrm>
            <a:off x="9125585" y="4983480"/>
            <a:ext cx="214884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26D58B"/>
                </a:solidFill>
                <a:latin typeface="Aptos" charset="0"/>
                <a:cs typeface="Aptos" charset="0"/>
              </a:rPr>
              <a:t>STAFF-VERIFIED ACCESS</a:t>
            </a:r>
            <a:endParaRPr lang="en-US" sz="900" b="1">
              <a:solidFill>
                <a:srgbClr val="26D58B"/>
              </a:solidFill>
              <a:latin typeface="Aptos" charset="0"/>
              <a:cs typeface="Aptos" charset="0"/>
            </a:endParaRPr>
          </a:p>
        </p:txBody>
      </p:sp>
      <p:sp>
        <p:nvSpPr>
          <p:cNvPr id="29" name="Text Box 28"/>
          <p:cNvSpPr txBox="1"/>
          <p:nvPr/>
        </p:nvSpPr>
        <p:spPr>
          <a:xfrm>
            <a:off x="777240" y="5614035"/>
            <a:ext cx="73152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QR access is available after membership approval.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3540"/>
            <a:ext cx="383540" cy="55245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502920" y="530225"/>
            <a:ext cx="36576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000" b="1">
                <a:solidFill>
                  <a:srgbClr val="B1BEC7"/>
                </a:solidFill>
                <a:latin typeface="Aptos" charset="0"/>
                <a:cs typeface="Aptos" charset="0"/>
              </a:rPr>
              <a:t>ANCHOR  /  GYM SYSTEM</a:t>
            </a:r>
            <a:endParaRPr lang="en-US" sz="1000" b="1">
              <a:solidFill>
                <a:srgbClr val="B1BEC7"/>
              </a:solidFill>
              <a:latin typeface="Aptos" charset="0"/>
              <a:cs typeface="Aptos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503920" y="530225"/>
            <a:ext cx="315468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6F818D"/>
                </a:solidFill>
                <a:latin typeface="Aptos" charset="0"/>
                <a:cs typeface="Aptos" charset="0"/>
              </a:rPr>
              <a:t>DAILY OPERATIONS</a:t>
            </a:r>
            <a:endParaRPr lang="en-US" sz="900" b="1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502920" y="6428105"/>
            <a:ext cx="11182985" cy="635"/>
          </a:xfrm>
          <a:prstGeom prst="line">
            <a:avLst/>
          </a:prstGeom>
          <a:ln w="10160">
            <a:solidFill>
              <a:srgbClr val="23313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502920" y="6510020"/>
            <a:ext cx="5029200" cy="1225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800">
                <a:solidFill>
                  <a:srgbClr val="6F818D"/>
                </a:solidFill>
                <a:latin typeface="Aptos" charset="0"/>
                <a:cs typeface="Aptos" charset="0"/>
              </a:rPr>
              <a:t>SYSTEM OVERVIEW  â€¢  2026</a:t>
            </a:r>
            <a:endParaRPr lang="en-US" sz="800">
              <a:solidFill>
                <a:srgbClr val="6F818D"/>
              </a:solidFill>
              <a:latin typeface="Aptos" charset="0"/>
              <a:cs typeface="Aptos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1018520" y="6492240"/>
            <a:ext cx="65786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r"/>
            <a:r>
              <a:rPr lang="en-US" sz="900" b="1">
                <a:solidFill>
                  <a:srgbClr val="EE2A3A"/>
                </a:solidFill>
                <a:latin typeface="Aptos" charset="0"/>
                <a:cs typeface="Aptos" charset="0"/>
              </a:rPr>
              <a:t>04</a:t>
            </a:r>
            <a:endParaRPr lang="en-US" sz="900" b="1">
              <a:solidFill>
                <a:srgbClr val="EE2A3A"/>
              </a:solidFill>
              <a:latin typeface="Aptos" charset="0"/>
              <a:cs typeface="Aptos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02920" y="1023620"/>
            <a:ext cx="10515600" cy="4152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700" b="1">
                <a:solidFill>
                  <a:srgbClr val="F2F6F8"/>
                </a:solidFill>
                <a:latin typeface="Aptos" charset="0"/>
                <a:cs typeface="Aptos" charset="0"/>
              </a:rPr>
              <a:t>A clearer view of the gym floor.</a:t>
            </a:r>
            <a:endParaRPr lang="en-US" sz="27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502920" y="1627505"/>
            <a:ext cx="1033272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400">
                <a:solidFill>
                  <a:srgbClr val="AEBCC6"/>
                </a:solidFill>
                <a:latin typeface="Aptos" charset="0"/>
                <a:cs typeface="Aptos" charset="0"/>
              </a:rPr>
              <a:t>Front-desk workflows stay connected to live records and reports.</a:t>
            </a:r>
            <a:endParaRPr lang="en-US" sz="14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5440680" cy="142621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03580" y="2523490"/>
            <a:ext cx="50800" cy="951230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2" name="Text Box 11"/>
          <p:cNvSpPr txBox="1"/>
          <p:nvPr/>
        </p:nvSpPr>
        <p:spPr>
          <a:xfrm>
            <a:off x="895985" y="2523490"/>
            <a:ext cx="484632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5762"/>
                </a:solidFill>
                <a:latin typeface="Aptos" charset="0"/>
                <a:cs typeface="Aptos" charset="0"/>
              </a:rPr>
              <a:t>ACCESS</a:t>
            </a:r>
            <a:endParaRPr lang="en-US" sz="900" b="1">
              <a:solidFill>
                <a:srgbClr val="EE5762"/>
              </a:solidFill>
              <a:latin typeface="Aptos" charset="0"/>
              <a:cs typeface="Aptos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895985" y="2816225"/>
            <a:ext cx="481838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QR attendance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895985" y="3328035"/>
            <a:ext cx="48006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Scan member QR codes to record check-in and check-out.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35700" y="2286000"/>
            <a:ext cx="5440680" cy="142621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436995" y="2523490"/>
            <a:ext cx="50165" cy="951230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7" name="Text Box 16"/>
          <p:cNvSpPr txBox="1"/>
          <p:nvPr/>
        </p:nvSpPr>
        <p:spPr>
          <a:xfrm>
            <a:off x="6629400" y="2523490"/>
            <a:ext cx="484632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5762"/>
                </a:solidFill>
                <a:latin typeface="Aptos" charset="0"/>
                <a:cs typeface="Aptos" charset="0"/>
              </a:rPr>
              <a:t>FRONT DESK</a:t>
            </a:r>
            <a:endParaRPr lang="en-US" sz="900" b="1">
              <a:solidFill>
                <a:srgbClr val="EE5762"/>
              </a:solidFill>
              <a:latin typeface="Aptos" charset="0"/>
              <a:cs typeface="Aptos" charset="0"/>
            </a:endParaRPr>
          </a:p>
        </p:txBody>
      </p:sp>
      <p:sp>
        <p:nvSpPr>
          <p:cNvPr id="18" name="Text Box 17"/>
          <p:cNvSpPr txBox="1"/>
          <p:nvPr/>
        </p:nvSpPr>
        <p:spPr>
          <a:xfrm>
            <a:off x="6629400" y="2816225"/>
            <a:ext cx="481838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Guest visits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6629400" y="3328035"/>
            <a:ext cx="48006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Record walk-ins with visit type, payment, and timed stays.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2920" y="4004945"/>
            <a:ext cx="5440680" cy="142621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03580" y="4242435"/>
            <a:ext cx="50800" cy="951230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2" name="Text Box 21"/>
          <p:cNvSpPr txBox="1"/>
          <p:nvPr/>
        </p:nvSpPr>
        <p:spPr>
          <a:xfrm>
            <a:off x="895985" y="4242435"/>
            <a:ext cx="484632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5762"/>
                </a:solidFill>
                <a:latin typeface="Aptos" charset="0"/>
                <a:cs typeface="Aptos" charset="0"/>
              </a:rPr>
              <a:t>LIVE VIEW</a:t>
            </a:r>
            <a:endParaRPr lang="en-US" sz="900" b="1">
              <a:solidFill>
                <a:srgbClr val="EE5762"/>
              </a:solidFill>
              <a:latin typeface="Aptos" charset="0"/>
              <a:cs typeface="Aptos" charset="0"/>
            </a:endParaRPr>
          </a:p>
        </p:txBody>
      </p:sp>
      <p:sp>
        <p:nvSpPr>
          <p:cNvPr id="23" name="Text Box 22"/>
          <p:cNvSpPr txBox="1"/>
          <p:nvPr/>
        </p:nvSpPr>
        <p:spPr>
          <a:xfrm>
            <a:off x="895985" y="4535170"/>
            <a:ext cx="481838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Occupancy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895985" y="5046980"/>
            <a:ext cx="48006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See active member and guest counts from attendance.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235700" y="4004945"/>
            <a:ext cx="5440680" cy="1426210"/>
          </a:xfrm>
          <a:prstGeom prst="roundRect">
            <a:avLst/>
          </a:prstGeom>
          <a:solidFill>
            <a:srgbClr val="0F161C"/>
          </a:solidFill>
          <a:ln w="12700">
            <a:solidFill>
              <a:srgbClr val="25333C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436995" y="4242435"/>
            <a:ext cx="50165" cy="951230"/>
          </a:xfrm>
          <a:prstGeom prst="rect">
            <a:avLst/>
          </a:prstGeom>
          <a:solidFill>
            <a:srgbClr val="EE2A3A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" name="Text Box 26"/>
          <p:cNvSpPr txBox="1"/>
          <p:nvPr/>
        </p:nvSpPr>
        <p:spPr>
          <a:xfrm>
            <a:off x="6629400" y="4242435"/>
            <a:ext cx="4846320" cy="138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900" b="1">
                <a:solidFill>
                  <a:srgbClr val="EE5762"/>
                </a:solidFill>
                <a:latin typeface="Aptos" charset="0"/>
                <a:cs typeface="Aptos" charset="0"/>
              </a:rPr>
              <a:t>INSIGHTS</a:t>
            </a:r>
            <a:endParaRPr lang="en-US" sz="900" b="1">
              <a:solidFill>
                <a:srgbClr val="EE5762"/>
              </a:solidFill>
              <a:latin typeface="Aptos" charset="0"/>
              <a:cs typeface="Aptos" charset="0"/>
            </a:endParaRPr>
          </a:p>
        </p:txBody>
      </p:sp>
      <p:sp>
        <p:nvSpPr>
          <p:cNvPr id="28" name="Text Box 27"/>
          <p:cNvSpPr txBox="1"/>
          <p:nvPr/>
        </p:nvSpPr>
        <p:spPr>
          <a:xfrm>
            <a:off x="6629400" y="4535170"/>
            <a:ext cx="481838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2000" b="1">
                <a:solidFill>
                  <a:srgbClr val="F2F6F8"/>
                </a:solidFill>
                <a:latin typeface="Aptos" charset="0"/>
                <a:cs typeface="Aptos" charset="0"/>
              </a:rPr>
              <a:t>Reports &amp; demand</a:t>
            </a:r>
            <a:endParaRPr lang="en-US" sz="2000" b="1">
              <a:solidFill>
                <a:srgbClr val="F2F6F8"/>
              </a:solidFill>
              <a:latin typeface="Aptos" charset="0"/>
              <a:cs typeface="Aptos" charset="0"/>
            </a:endParaRPr>
          </a:p>
        </p:txBody>
      </p:sp>
      <p:sp>
        <p:nvSpPr>
          <p:cNvPr id="29" name="Text Box 28"/>
          <p:cNvSpPr txBox="1"/>
          <p:nvPr/>
        </p:nvSpPr>
        <p:spPr>
          <a:xfrm>
            <a:off x="6629400" y="5046980"/>
            <a:ext cx="48006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/>
            <a:r>
              <a:rPr lang="en-US" sz="1300">
                <a:solidFill>
                  <a:srgbClr val="AEBCC6"/>
                </a:solidFill>
                <a:latin typeface="Aptos" charset="0"/>
                <a:cs typeface="Aptos" charset="0"/>
              </a:rPr>
              <a:t>Review attendance trends and equipment demand.</a:t>
            </a:r>
            <a:endParaRPr lang="en-US" sz="1300">
              <a:solidFill>
                <a:srgbClr val="AEBCC6"/>
              </a:solidFill>
              <a:latin typeface="Aptos" charset="0"/>
              <a:cs typeface="Aptos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1584</Words>
  <Application>WPS Presentation</Application>
  <PresentationFormat>Widescreen</PresentationFormat>
  <Paragraphs>118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SimSun</vt:lpstr>
      <vt:lpstr>Wingdings</vt:lpstr>
      <vt:lpstr>Wingdings</vt:lpstr>
      <vt:lpstr>Aptos</vt:lpstr>
      <vt:lpstr>Segoe UI</vt:lpstr>
      <vt:lpstr>Microsoft YaHei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User</dc:creator>
  <cp:lastModifiedBy>Denmark Balane</cp:lastModifiedBy>
  <cp:revision>2</cp:revision>
  <dcterms:created xsi:type="dcterms:W3CDTF">2026-10-09T00:51:00Z</dcterms:created>
  <dcterms:modified xsi:type="dcterms:W3CDTF">2026-10-09T01:09:33Z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64E8D86FF012422EB0490BCD7349C928_11</vt:lpwstr>
  </property>
</Properties>
</file>